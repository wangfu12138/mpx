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0920" cy="3322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0"/>
            <a:ext cx="6090285" cy="33223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3322320"/>
            <a:ext cx="609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传统</a:t>
            </a:r>
            <a:r>
              <a:rPr lang="en-US" altLang="zh-CN"/>
              <a:t>MPC</a:t>
            </a:r>
            <a:r>
              <a:rPr lang="zh-CN" altLang="en-US"/>
              <a:t>控制层级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91555" y="3322320"/>
            <a:ext cx="6089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端到端可微</a:t>
            </a:r>
            <a:r>
              <a:rPr lang="en-US" altLang="zh-CN"/>
              <a:t>MPC</a:t>
            </a:r>
            <a:r>
              <a:rPr lang="zh-CN" altLang="en-US"/>
              <a:t>控制层级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3690620"/>
            <a:ext cx="609155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/>
              <a:t>视觉感知 </a:t>
            </a:r>
            <a:r>
              <a:rPr lang="en-US" altLang="zh-CN" sz="1600" b="1"/>
              <a:t>(VISUAL PERCEPTION)</a:t>
            </a:r>
            <a:r>
              <a:rPr lang="zh-CN" altLang="en-US" sz="1600"/>
              <a:t>：传感器输入变成深度图。</a:t>
            </a:r>
            <a:endParaRPr lang="zh-CN" altLang="en-US" sz="1600"/>
          </a:p>
          <a:p>
            <a:r>
              <a:rPr lang="zh-CN" altLang="en-US" sz="1600" b="1"/>
              <a:t>建图 </a:t>
            </a:r>
            <a:r>
              <a:rPr lang="en-US" altLang="zh-CN" sz="1600" b="1"/>
              <a:t>(MAPPING)</a:t>
            </a:r>
            <a:r>
              <a:rPr lang="zh-CN" altLang="en-US" sz="1600"/>
              <a:t>：高程数据的处理过程。</a:t>
            </a:r>
            <a:endParaRPr lang="zh-CN" altLang="en-US" sz="1600"/>
          </a:p>
          <a:p>
            <a:r>
              <a:rPr lang="zh-CN" altLang="en-US" sz="1600" b="1"/>
              <a:t>规划 </a:t>
            </a:r>
            <a:r>
              <a:rPr lang="en-US" altLang="zh-CN" sz="1600" b="1"/>
              <a:t>(PLANNING)</a:t>
            </a:r>
            <a:r>
              <a:rPr lang="zh-CN" altLang="en-US" sz="1600"/>
              <a:t>：从标称点到离散落脚点的搜索过程。</a:t>
            </a:r>
            <a:endParaRPr lang="zh-CN" altLang="en-US" sz="1600"/>
          </a:p>
          <a:p>
            <a:r>
              <a:rPr lang="zh-CN" altLang="en-US" sz="1600" b="1"/>
              <a:t>控制 </a:t>
            </a:r>
            <a:r>
              <a:rPr lang="en-US" altLang="zh-CN" sz="1600" b="1"/>
              <a:t>(CONTROL)</a:t>
            </a:r>
            <a:r>
              <a:rPr lang="zh-CN" altLang="en-US" sz="1600"/>
              <a:t>：单刚体模型（</a:t>
            </a:r>
            <a:r>
              <a:rPr lang="en-US" altLang="zh-CN" sz="1600"/>
              <a:t>SRBM</a:t>
            </a:r>
            <a:r>
              <a:rPr lang="zh-CN" altLang="en-US" sz="1600"/>
              <a:t>）和 </a:t>
            </a:r>
            <a:r>
              <a:rPr lang="en-US" altLang="zh-CN" sz="1600"/>
              <a:t>QP </a:t>
            </a:r>
            <a:r>
              <a:rPr lang="zh-CN" altLang="en-US" sz="1600"/>
              <a:t>问题表述。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6090920" y="3690620"/>
            <a:ext cx="6100445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 b="1"/>
              <a:t>全链路可导（</a:t>
            </a:r>
            <a:r>
              <a:rPr lang="en-US" altLang="zh-CN" sz="1600" b="1"/>
              <a:t>Implicit Function Theorem</a:t>
            </a:r>
            <a:r>
              <a:rPr lang="zh-CN" altLang="en-US" sz="1600" b="1"/>
              <a:t>）</a:t>
            </a:r>
            <a:r>
              <a:rPr lang="zh-CN" altLang="en-US" sz="1600"/>
              <a:t>：底部的红色虚线箭头（梯度流）贯穿全图，从 </a:t>
            </a:r>
            <a:r>
              <a:rPr lang="en-US" altLang="zh-CN" sz="1600"/>
              <a:t>Loss </a:t>
            </a:r>
            <a:r>
              <a:rPr lang="zh-CN" altLang="en-US" sz="1600"/>
              <a:t>经过控制力矩（</a:t>
            </a:r>
            <a:r>
              <a:rPr lang="en-US" altLang="zh-CN" sz="1600"/>
              <a:t>u*</a:t>
            </a:r>
            <a:r>
              <a:rPr lang="zh-CN" altLang="en-US" sz="1600"/>
              <a:t>），直接回传到像素层的视觉编码器。</a:t>
            </a:r>
            <a:endParaRPr lang="zh-CN" altLang="en-US" sz="1600"/>
          </a:p>
          <a:p>
            <a:r>
              <a:rPr lang="zh-CN" altLang="en-US" sz="1600" b="1"/>
              <a:t>连续可微感知（</a:t>
            </a:r>
            <a:r>
              <a:rPr lang="en-US" altLang="zh-CN" sz="1600" b="1"/>
              <a:t>SDF Cost Map</a:t>
            </a:r>
            <a:r>
              <a:rPr lang="zh-CN" altLang="en-US" sz="1600" b="1"/>
              <a:t>）</a:t>
            </a:r>
            <a:r>
              <a:rPr lang="zh-CN" altLang="en-US" sz="1600"/>
              <a:t>：中间层利用 </a:t>
            </a:r>
            <a:r>
              <a:rPr lang="en-US" altLang="zh-CN" sz="1600"/>
              <a:t>map_coordinates </a:t>
            </a:r>
            <a:r>
              <a:rPr lang="zh-CN" altLang="en-US" sz="1600"/>
              <a:t>实现了连续可微的地形插值。</a:t>
            </a:r>
            <a:endParaRPr lang="zh-CN" altLang="en-US" sz="1600"/>
          </a:p>
          <a:p>
            <a:r>
              <a:rPr lang="zh-CN" altLang="en-US" sz="1600" b="1"/>
              <a:t>自适应权重调节（</a:t>
            </a:r>
            <a:r>
              <a:rPr lang="en-US" altLang="zh-CN" sz="1600" b="1"/>
              <a:t>Adaptive Weights</a:t>
            </a:r>
            <a:r>
              <a:rPr lang="zh-CN" altLang="en-US" sz="1600" b="1"/>
              <a:t>）</a:t>
            </a:r>
            <a:r>
              <a:rPr lang="zh-CN" altLang="en-US" sz="1600"/>
              <a:t>：视觉编码器同时输出 </a:t>
            </a:r>
            <a:r>
              <a:rPr lang="en-US" altLang="zh-CN" sz="1600"/>
              <a:t>MPC </a:t>
            </a:r>
            <a:r>
              <a:rPr lang="zh-CN" altLang="en-US" sz="1600"/>
              <a:t>权重（</a:t>
            </a:r>
            <a:r>
              <a:rPr lang="en-US" altLang="zh-CN" sz="1600"/>
              <a:t>Q, R</a:t>
            </a:r>
            <a:r>
              <a:rPr lang="zh-CN" altLang="en-US" sz="1600"/>
              <a:t>），实现了感知对控制参数的动态调整。</a:t>
            </a:r>
            <a:endParaRPr lang="zh-CN" altLang="en-US" sz="1600"/>
          </a:p>
          <a:p>
            <a:r>
              <a:rPr lang="zh-CN" altLang="en-US" sz="1600" b="1"/>
              <a:t>物理可解释性（</a:t>
            </a:r>
            <a:r>
              <a:rPr lang="en-US" altLang="zh-CN" sz="1600" b="1"/>
              <a:t>MPX/iLQR</a:t>
            </a:r>
            <a:r>
              <a:rPr lang="zh-CN" altLang="en-US" sz="1600" b="1"/>
              <a:t>）</a:t>
            </a:r>
            <a:r>
              <a:rPr lang="zh-CN" altLang="en-US" sz="1600"/>
              <a:t>：最底层是一个可要求导的、基于物理模型的 </a:t>
            </a:r>
            <a:r>
              <a:rPr lang="en-US" altLang="zh-CN" sz="1600"/>
              <a:t>MPC </a:t>
            </a:r>
            <a:r>
              <a:rPr lang="zh-CN" altLang="en-US" sz="1600"/>
              <a:t>求解器，而不是一个黑盒神经网络。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0" y="-31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复合任务损失函数（</a:t>
            </a:r>
            <a:r>
              <a:rPr lang="en-US" altLang="zh-CN" sz="1600"/>
              <a:t>Composite Task Loss</a:t>
            </a:r>
            <a:r>
              <a:rPr lang="zh-CN" altLang="en-US" sz="1600"/>
              <a:t>）</a:t>
            </a:r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7185"/>
            <a:ext cx="12192000" cy="4902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8270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终端成功损失 </a:t>
            </a:r>
            <a:r>
              <a:rPr lang="en-US" altLang="zh-CN" sz="1600"/>
              <a:t>(Terminal Success Loss)</a:t>
            </a:r>
            <a:r>
              <a:rPr lang="zh-CN" altLang="en-US" sz="1600"/>
              <a:t>，连续的距离惩罚</a:t>
            </a:r>
            <a:endParaRPr lang="zh-CN" altLang="en-US" sz="16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4590"/>
            <a:ext cx="12192000" cy="7835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19516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状态</a:t>
            </a:r>
            <a:r>
              <a:rPr lang="en-US" altLang="zh-CN" sz="1600"/>
              <a:t>/</a:t>
            </a:r>
            <a:r>
              <a:rPr lang="zh-CN" altLang="en-US" sz="1600"/>
              <a:t>速度跟踪损失 </a:t>
            </a:r>
            <a:r>
              <a:rPr lang="en-US" altLang="zh-CN" sz="1600"/>
              <a:t>(Tracking Loss)</a:t>
            </a:r>
            <a:endParaRPr lang="en-US" altLang="zh-CN" sz="16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l="3384"/>
          <a:stretch>
            <a:fillRect/>
          </a:stretch>
        </p:blipFill>
        <p:spPr>
          <a:xfrm>
            <a:off x="190500" y="2388235"/>
            <a:ext cx="11602085" cy="10407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134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solidFill>
                  <a:srgbClr val="FF0000"/>
                </a:solidFill>
              </a:rPr>
              <a:t>地形安全损失 </a:t>
            </a:r>
            <a:r>
              <a:rPr lang="en-US" altLang="zh-CN" sz="1600">
                <a:solidFill>
                  <a:srgbClr val="FF0000"/>
                </a:solidFill>
              </a:rPr>
              <a:t>(Terrain Safety Loss) </a:t>
            </a:r>
            <a:endParaRPr lang="en-US" altLang="zh-CN" sz="1600">
              <a:solidFill>
                <a:srgbClr val="FF0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03980"/>
            <a:ext cx="12192000" cy="91630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0" y="48199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能量效率</a:t>
            </a:r>
            <a:r>
              <a:rPr lang="en-US" altLang="zh-CN" sz="1600"/>
              <a:t>/</a:t>
            </a:r>
            <a:r>
              <a:rPr lang="zh-CN" altLang="en-US" sz="1600"/>
              <a:t>平滑损失 </a:t>
            </a:r>
            <a:r>
              <a:rPr lang="en-US" altLang="zh-CN" sz="1600"/>
              <a:t>(Energy/Efficiency Loss)</a:t>
            </a:r>
            <a:endParaRPr lang="en-US" altLang="zh-CN" sz="160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216525"/>
            <a:ext cx="12192000" cy="11353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0" y="0"/>
                <a:ext cx="12192635" cy="16300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000"/>
                  <a:t>模块</a:t>
                </a:r>
                <a:r>
                  <a:rPr lang="en-US" altLang="zh-CN" sz="1000"/>
                  <a:t> 1</a:t>
                </a:r>
                <a:r>
                  <a:rPr lang="zh-CN" altLang="en-US" sz="1000"/>
                  <a:t>：</a:t>
                </a:r>
                <a:r>
                  <a:rPr lang="en-US" altLang="zh-CN" sz="1000"/>
                  <a:t>MPC </a:t>
                </a:r>
                <a:r>
                  <a:rPr lang="zh-CN" altLang="en-US" sz="1000"/>
                  <a:t>求解器</a:t>
                </a:r>
                <a:r>
                  <a:rPr lang="en-US" altLang="zh-CN" sz="1000"/>
                  <a:t> &amp; MuJoCo </a:t>
                </a:r>
                <a:r>
                  <a:rPr lang="zh-CN" altLang="en-US" sz="1000"/>
                  <a:t>仿真基石</a:t>
                </a:r>
                <a:r>
                  <a:rPr lang="en-US" altLang="zh-CN" sz="1000"/>
                  <a:t> (MPC Solver &amp; MuJoCo Foundation)</a:t>
                </a:r>
                <a:endParaRPr lang="en-US" altLang="zh-CN" sz="1000"/>
              </a:p>
              <a:p>
                <a:r>
                  <a:rPr lang="zh-CN" altLang="en-US" sz="1000">
                    <a:solidFill>
                      <a:srgbClr val="FF0000"/>
                    </a:solidFill>
                  </a:rPr>
                  <a:t>可导性验证</a:t>
                </a:r>
                <a:r>
                  <a:rPr lang="zh-CN" altLang="en-US" sz="1000"/>
                  <a:t>：在集成前，运行简单的单元测试（如质点跟踪），验证</a:t>
                </a:r>
                <a:r>
                  <a:rPr lang="en-US" altLang="zh-CN" sz="1000"/>
                  <a:t> jax.grad(mpc_solve) </a:t>
                </a:r>
                <a:r>
                  <a:rPr lang="zh-CN" altLang="en-US" sz="1000"/>
                  <a:t>能否稳定产生梯度。</a:t>
                </a:r>
                <a:endParaRPr lang="zh-CN" altLang="en-US" sz="1000"/>
              </a:p>
              <a:p>
                <a:r>
                  <a:rPr lang="zh-CN" altLang="en-US" sz="1000"/>
                  <a:t>模块</a:t>
                </a:r>
                <a:r>
                  <a:rPr lang="en-US" altLang="zh-CN" sz="1000"/>
                  <a:t> 2</a:t>
                </a:r>
                <a:r>
                  <a:rPr lang="zh-CN" altLang="en-US" sz="1000"/>
                  <a:t>：地形生成器</a:t>
                </a:r>
                <a:r>
                  <a:rPr lang="en-US" altLang="zh-CN" sz="1000"/>
                  <a:t> &amp; </a:t>
                </a:r>
                <a:r>
                  <a:rPr lang="zh-CN" altLang="en-US" sz="1000"/>
                  <a:t>地形代价获取</a:t>
                </a:r>
                <a:r>
                  <a:rPr lang="en-US" altLang="zh-CN" sz="1000"/>
                  <a:t> (Terrain Generator &amp; SDF Cost)</a:t>
                </a:r>
                <a:endParaRPr lang="en-US" altLang="zh-CN" sz="1000"/>
              </a:p>
              <a:p>
                <a:r>
                  <a:rPr lang="en-US" altLang="zh-CN" sz="1000"/>
                  <a:t>1. </a:t>
                </a:r>
                <a:r>
                  <a:rPr lang="zh-CN" altLang="en-US" sz="1000">
                    <a:solidFill>
                      <a:srgbClr val="FF0000"/>
                    </a:solidFill>
                  </a:rPr>
                  <a:t>高度图生成</a:t>
                </a:r>
                <a:r>
                  <a:rPr lang="en-US" altLang="zh-CN" sz="1000">
                    <a:solidFill>
                      <a:srgbClr val="FF0000"/>
                    </a:solidFill>
                  </a:rPr>
                  <a:t> (Heightfield)</a:t>
                </a:r>
                <a:r>
                  <a:rPr lang="zh-CN" altLang="en-US" sz="1000"/>
                  <a:t>：编写基于正弦波叠加或</a:t>
                </a:r>
                <a:r>
                  <a:rPr lang="en-US" altLang="zh-CN" sz="1000"/>
                  <a:t> Perlin Noise </a:t>
                </a:r>
                <a:r>
                  <a:rPr lang="zh-CN" altLang="en-US" sz="1000"/>
                  <a:t>的地形生成脚本，动态创建带有碎石、台阶、斜坡的</a:t>
                </a:r>
                <a:r>
                  <a:rPr lang="en-US" altLang="zh-CN" sz="1000"/>
                  <a:t> MuJoCo </a:t>
                </a:r>
                <a:r>
                  <a:rPr lang="zh-CN" altLang="en-US" sz="1000"/>
                  <a:t>环境。</a:t>
                </a:r>
                <a:endParaRPr lang="zh-CN" altLang="en-US" sz="1000"/>
              </a:p>
              <a:p>
                <a:r>
                  <a:rPr lang="en-US" altLang="zh-CN" sz="1000"/>
                  <a:t>2.</a:t>
                </a:r>
                <a:r>
                  <a:rPr lang="en-US" altLang="zh-CN" sz="100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1000">
                    <a:solidFill>
                      <a:srgbClr val="FF0000"/>
                    </a:solidFill>
                  </a:rPr>
                  <a:t>连续可微</a:t>
                </a:r>
                <a:r>
                  <a:rPr lang="en-US" altLang="zh-CN" sz="1000">
                    <a:solidFill>
                      <a:srgbClr val="FF0000"/>
                    </a:solidFill>
                  </a:rPr>
                  <a:t> SDF </a:t>
                </a:r>
                <a:r>
                  <a:rPr lang="en-US" altLang="zh-CN" sz="1000"/>
                  <a:t>(Signed Distance Field)</a:t>
                </a:r>
                <a:r>
                  <a:rPr lang="zh-CN" altLang="en-US" sz="1000"/>
                  <a:t>：关键创新点！</a:t>
                </a:r>
                <a:endParaRPr lang="zh-CN" altLang="en-US" sz="1000"/>
              </a:p>
              <a:p>
                <a:r>
                  <a:rPr lang="zh-CN" altLang="en-US" sz="1000"/>
                  <a:t>做法：不使用离散的高程图格点。在</a:t>
                </a:r>
                <a:r>
                  <a:rPr lang="en-US" altLang="zh-CN" sz="1000"/>
                  <a:t> JAX </a:t>
                </a:r>
                <a:r>
                  <a:rPr lang="zh-CN" altLang="en-US" sz="1000"/>
                  <a:t>中实现一个函数，根据坐标，利用</a:t>
                </a:r>
                <a:r>
                  <a:rPr lang="en-US" altLang="zh-CN" sz="1000"/>
                  <a:t> jax.scipy.ndimage.map_coordinates (</a:t>
                </a:r>
                <a:r>
                  <a:rPr lang="zh-CN" altLang="en-US" sz="1000"/>
                  <a:t>配合</a:t>
                </a:r>
                <a:r>
                  <a:rPr lang="en-US" altLang="zh-CN" sz="1000"/>
                  <a:t> order=1 </a:t>
                </a:r>
                <a:r>
                  <a:rPr lang="zh-CN" altLang="en-US" sz="1000"/>
                  <a:t>双线性插值</a:t>
                </a:r>
                <a:r>
                  <a:rPr lang="en-US" altLang="zh-CN" sz="1000"/>
                  <a:t>) </a:t>
                </a:r>
                <a:r>
                  <a:rPr lang="zh-CN" altLang="en-US" sz="1000"/>
                  <a:t>实时计算地面的高度</a:t>
                </a:r>
                <a:r>
                  <a:rPr lang="en-US" altLang="zh-CN" sz="1000"/>
                  <a:t> </a:t>
                </a:r>
                <a:r>
                  <a:rPr lang="zh-CN" altLang="en-US" sz="1000"/>
                  <a:t>。</a:t>
                </a:r>
                <a:endParaRPr lang="zh-CN" altLang="en-US" sz="1000"/>
              </a:p>
              <a:p>
                <a:r>
                  <a:rPr lang="en-US" altLang="zh-CN" sz="1000"/>
                  <a:t>3. </a:t>
                </a:r>
                <a:r>
                  <a:rPr lang="zh-CN" altLang="en-US" sz="1000">
                    <a:solidFill>
                      <a:srgbClr val="FF0000"/>
                    </a:solidFill>
                  </a:rPr>
                  <a:t>地形安全损失</a:t>
                </a:r>
                <a:r>
                  <a:rPr lang="en-US" altLang="zh-CN" sz="1000"/>
                  <a:t> (Terrain Safety Loss)</a:t>
                </a:r>
                <a:r>
                  <a:rPr lang="zh-CN" altLang="en-US" sz="1000"/>
                  <a:t>：利用算出的</a:t>
                </a:r>
                <a:r>
                  <a:rPr lang="en-US" altLang="zh-CN" sz="1000"/>
                  <a:t>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𝑧</m:t>
                    </m:r>
                  </m:oMath>
                </a14:m>
                <a:r>
                  <a:rPr lang="zh-CN" altLang="en-US" sz="1000"/>
                  <a:t>（即</a:t>
                </a:r>
                <a:r>
                  <a:rPr lang="en-US" altLang="zh-CN" sz="1000"/>
                  <a:t> </a:t>
                </a:r>
                <a14:m>
                  <m:oMath xmlns:m="http://schemas.openxmlformats.org/officeDocument/2006/math"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𝑆𝐷𝐹</m:t>
                    </m:r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𝑥</m:t>
                    </m:r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𝑦</m:t>
                    </m:r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1000"/>
                  <a:t>），构建障碍物惩罚项。这保证了梯度能准确传回足端坐标。</a:t>
                </a:r>
                <a:endParaRPr lang="zh-CN" altLang="en-US" sz="1000"/>
              </a:p>
              <a:p>
                <a:r>
                  <a:rPr lang="zh-CN" altLang="en-US" sz="1000"/>
                  <a:t>模块</a:t>
                </a:r>
                <a:r>
                  <a:rPr lang="en-US" altLang="zh-CN" sz="1000"/>
                  <a:t> 3</a:t>
                </a:r>
                <a:r>
                  <a:rPr lang="zh-CN" altLang="en-US" sz="1000"/>
                  <a:t>：</a:t>
                </a:r>
                <a:r>
                  <a:rPr lang="en-US" altLang="zh-CN" sz="1000"/>
                  <a:t>MuJoCo </a:t>
                </a:r>
                <a:r>
                  <a:rPr lang="zh-CN" altLang="en-US" sz="1000"/>
                  <a:t>中的视觉模块</a:t>
                </a:r>
                <a:r>
                  <a:rPr lang="en-US" altLang="zh-CN" sz="1000"/>
                  <a:t> (MuJoCo Perception)</a:t>
                </a:r>
                <a:endParaRPr lang="en-US" altLang="zh-CN" sz="1000"/>
              </a:p>
              <a:p>
                <a:r>
                  <a:rPr lang="en-US" altLang="zh-CN" sz="1000"/>
                  <a:t>1. </a:t>
                </a:r>
                <a:r>
                  <a:rPr lang="zh-CN" altLang="en-US" sz="1000"/>
                  <a:t>渲染</a:t>
                </a:r>
                <a:r>
                  <a:rPr lang="en-US" altLang="zh-CN" sz="1000"/>
                  <a:t> RGB-D</a:t>
                </a:r>
                <a:r>
                  <a:rPr lang="zh-CN" altLang="en-US" sz="1000"/>
                  <a:t>：在</a:t>
                </a:r>
                <a:r>
                  <a:rPr lang="en-US" altLang="zh-CN" sz="1000"/>
                  <a:t> MuJoCo </a:t>
                </a:r>
                <a:r>
                  <a:rPr lang="zh-CN" altLang="en-US" sz="1000"/>
                  <a:t>中设置相机</a:t>
                </a:r>
                <a:r>
                  <a:rPr lang="en-US" altLang="zh-CN" sz="1000"/>
                  <a:t> Geoms</a:t>
                </a:r>
                <a:r>
                  <a:rPr lang="zh-CN" altLang="en-US" sz="1000"/>
                  <a:t>，利用</a:t>
                </a:r>
                <a:r>
                  <a:rPr lang="en-US" altLang="zh-CN" sz="1000"/>
                  <a:t> mujoco.Renderer </a:t>
                </a:r>
                <a:r>
                  <a:rPr lang="zh-CN" altLang="en-US" sz="1000"/>
                  <a:t>或</a:t>
                </a:r>
                <a:r>
                  <a:rPr lang="en-US" altLang="zh-CN" sz="1000"/>
                  <a:t> MJX </a:t>
                </a:r>
                <a:r>
                  <a:rPr lang="zh-CN" altLang="en-US" sz="1000"/>
                  <a:t>自带的渲染原语，在每个控制周期渲染机器人视角的深度图（</a:t>
                </a:r>
                <a:r>
                  <a:rPr lang="en-US" altLang="zh-CN" sz="1000"/>
                  <a:t>Depth Image</a:t>
                </a:r>
                <a:r>
                  <a:rPr lang="zh-CN" altLang="en-US" sz="1000"/>
                  <a:t>）。</a:t>
                </a:r>
                <a:endParaRPr lang="zh-CN" altLang="en-US" sz="1000"/>
              </a:p>
              <a:p>
                <a:r>
                  <a:rPr lang="en-US" altLang="zh-CN" sz="1000"/>
                  <a:t>2. </a:t>
                </a:r>
                <a:r>
                  <a:rPr lang="zh-CN" altLang="en-US" sz="1000"/>
                  <a:t>预处理：对原始深度图进行降采样、去噪和归一化，使其适合神经网络输入。</a:t>
                </a:r>
                <a:endParaRPr lang="zh-CN" altLang="en-US" sz="100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635" cy="16300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0" y="1630045"/>
                <a:ext cx="12192635" cy="7067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r>
                  <a:rPr lang="zh-CN" altLang="en-US" sz="1000"/>
                  <a:t>模块 </a:t>
                </a:r>
                <a:r>
                  <a:rPr lang="en-US" altLang="zh-CN" sz="1000"/>
                  <a:t>4</a:t>
                </a:r>
                <a:r>
                  <a:rPr lang="zh-CN" altLang="en-US" sz="1000"/>
                  <a:t>（硬核讨论）：处理图像生成地形梯度图和 </a:t>
                </a:r>
                <a:r>
                  <a:rPr lang="en-US" altLang="zh-CN" sz="1000"/>
                  <a:t>MPC </a:t>
                </a:r>
                <a:r>
                  <a:rPr lang="zh-CN" altLang="en-US" sz="1000"/>
                  <a:t>参数 </a:t>
                </a:r>
                <a:r>
                  <a:rPr lang="en-US" altLang="zh-CN" sz="1000"/>
                  <a:t>QR </a:t>
                </a:r>
                <a:r>
                  <a:rPr lang="zh-CN" altLang="en-US" sz="1000"/>
                  <a:t>的权重的网络 </a:t>
                </a:r>
                <a:r>
                  <a:rPr lang="en-US" altLang="zh-CN" sz="1000"/>
                  <a:t>(Perception-to-Control Net)</a:t>
                </a:r>
                <a:br>
                  <a:rPr lang="en-US" altLang="zh-CN" sz="1000"/>
                </a:br>
                <a:r>
                  <a:rPr lang="en-US" altLang="zh-CN" sz="1000"/>
                  <a:t>**</a:t>
                </a:r>
                <a:r>
                  <a:rPr lang="en-US" altLang="zh-CN" sz="1000">
                    <a:solidFill>
                      <a:srgbClr val="FF0000"/>
                    </a:solidFill>
                  </a:rPr>
                  <a:t> Backbone</a:t>
                </a:r>
                <a:r>
                  <a:rPr lang="en-US" altLang="zh-CN" sz="1000"/>
                  <a:t>**</a:t>
                </a:r>
                <a:r>
                  <a:rPr lang="zh-CN" altLang="en-US" sz="1000"/>
                  <a:t>：使用轻量级的</a:t>
                </a:r>
                <a:r>
                  <a:rPr lang="en-US" altLang="zh-CN" sz="1000"/>
                  <a:t> TinyViT </a:t>
                </a:r>
                <a:r>
                  <a:rPr lang="zh-CN" altLang="en-US" sz="1000"/>
                  <a:t>或</a:t>
                </a:r>
                <a:r>
                  <a:rPr lang="en-US" altLang="zh-CN" sz="1000"/>
                  <a:t> ResNet-18</a:t>
                </a:r>
                <a:r>
                  <a:rPr lang="zh-CN" altLang="en-US" sz="1000"/>
                  <a:t>，在</a:t>
                </a:r>
                <a:r>
                  <a:rPr lang="en-US" altLang="zh-CN" sz="1000"/>
                  <a:t> JAX (Flax/Haiku) </a:t>
                </a:r>
                <a:r>
                  <a:rPr lang="zh-CN" altLang="en-US" sz="1000"/>
                  <a:t>中实现。</a:t>
                </a:r>
                <a:endParaRPr lang="zh-CN" altLang="en-US" sz="1000"/>
              </a:p>
              <a:p>
                <a:r>
                  <a:rPr lang="zh-CN" altLang="en-US" sz="1000"/>
                  <a:t>分支</a:t>
                </a:r>
                <a:r>
                  <a:rPr lang="en-US" altLang="zh-CN" sz="1000"/>
                  <a:t> A</a:t>
                </a:r>
                <a:r>
                  <a:rPr lang="zh-CN" altLang="en-US" sz="1000"/>
                  <a:t>：地形代价图</a:t>
                </a:r>
                <a:r>
                  <a:rPr lang="en-US" altLang="zh-CN" sz="1000"/>
                  <a:t> (Cost Map)</a:t>
                </a:r>
                <a:br>
                  <a:rPr lang="en-US" altLang="zh-CN" sz="1000"/>
                </a:br>
                <a:r>
                  <a:rPr lang="zh-CN" altLang="en-US" sz="1000"/>
                  <a:t>分支</a:t>
                </a:r>
                <a:r>
                  <a:rPr lang="en-US" altLang="zh-CN" sz="1000"/>
                  <a:t> B</a:t>
                </a:r>
                <a:r>
                  <a:rPr lang="zh-CN" altLang="en-US" sz="1000"/>
                  <a:t>：自适应</a:t>
                </a:r>
                <a14:m>
                  <m:oMath xmlns:m="http://schemas.openxmlformats.org/officeDocument/2006/math"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𝑄</m:t>
                    </m:r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𝑅</m:t>
                    </m:r>
                  </m:oMath>
                </a14:m>
                <a:r>
                  <a:rPr lang="en-US" altLang="zh-CN" sz="1000"/>
                  <a:t> </a:t>
                </a:r>
                <a:r>
                  <a:rPr lang="zh-CN" altLang="en-US" sz="1000"/>
                  <a:t>权重</a:t>
                </a:r>
                <a:endParaRPr lang="zh-CN" altLang="en-US" sz="100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30045"/>
                <a:ext cx="12192635" cy="70675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0" y="2336483"/>
            <a:ext cx="5080000" cy="24511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000"/>
              <a:t>模块 </a:t>
            </a:r>
            <a:r>
              <a:rPr lang="en-US" altLang="zh-CN" sz="1000"/>
              <a:t>5</a:t>
            </a:r>
            <a:r>
              <a:rPr lang="zh-CN" altLang="en-US" sz="1000"/>
              <a:t>：并行批量环境训练器 </a:t>
            </a:r>
            <a:r>
              <a:rPr lang="en-US" altLang="zh-CN" sz="1000"/>
              <a:t>(Parallel Batch Trainer)</a:t>
            </a:r>
            <a:endParaRPr lang="en-US" altLang="zh-CN" sz="10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5615" y="2009775"/>
            <a:ext cx="8886825" cy="4847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1421</Words>
  <Application>WPS 演示</Application>
  <PresentationFormat>宽屏</PresentationFormat>
  <Paragraphs>40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Arial</vt:lpstr>
      <vt:lpstr>Google Sans</vt:lpstr>
      <vt:lpstr>Google Sans Text</vt:lpstr>
      <vt:lpstr>SWAstro</vt:lpstr>
      <vt:lpstr>Cambria Math</vt:lpstr>
      <vt:lpstr>WPS</vt:lpstr>
      <vt:lpstr>Equation.KSEE3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zhenan wang</dc:creator>
  <cp:lastModifiedBy>王哲楠</cp:lastModifiedBy>
  <cp:revision>6</cp:revision>
  <dcterms:created xsi:type="dcterms:W3CDTF">2023-08-09T12:44:00Z</dcterms:created>
  <dcterms:modified xsi:type="dcterms:W3CDTF">2026-02-27T12:16:55Z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EA9B8E204FBB48B496653BD27A0CF3C4_12</vt:lpwstr>
  </property>
</Properties>
</file>